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8" r:id="rId2"/>
    <p:sldId id="257" r:id="rId3"/>
    <p:sldId id="273" r:id="rId4"/>
    <p:sldId id="258" r:id="rId5"/>
    <p:sldId id="260" r:id="rId6"/>
    <p:sldId id="261" r:id="rId7"/>
    <p:sldId id="263" r:id="rId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A72"/>
    <a:srgbClr val="4ABECA"/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9" autoAdjust="0"/>
    <p:restoredTop sz="94660"/>
  </p:normalViewPr>
  <p:slideViewPr>
    <p:cSldViewPr>
      <p:cViewPr varScale="1">
        <p:scale>
          <a:sx n="73" d="100"/>
          <a:sy n="73" d="100"/>
        </p:scale>
        <p:origin x="1276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51295-E853-4BEF-BB88-12E4CE5E1903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71C65-A3CE-4F53-A745-77D452FF5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694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71C65-A3CE-4F53-A745-77D452FF59D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94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71C65-A3CE-4F53-A745-77D452FF59D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36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DBA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8E7C69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DBA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E7C69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DBA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DBA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53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3822" y="370672"/>
            <a:ext cx="4055110" cy="559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DBA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8787" y="1380741"/>
            <a:ext cx="4185285" cy="3334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8E7C69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75EC2CD-1B92-2192-AB5B-A2A0818681FA}"/>
              </a:ext>
            </a:extLst>
          </p:cNvPr>
          <p:cNvSpPr txBox="1">
            <a:spLocks/>
          </p:cNvSpPr>
          <p:nvPr/>
        </p:nvSpPr>
        <p:spPr>
          <a:xfrm>
            <a:off x="1066800" y="206624"/>
            <a:ext cx="6477000" cy="906832"/>
          </a:xfrm>
          <a:prstGeom prst="roundRect">
            <a:avLst>
              <a:gd name="adj" fmla="val 16667"/>
            </a:avLst>
          </a:prstGeom>
          <a:ln w="254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27B06F-E56F-0A4A-B296-F5FBE47136FD}"/>
              </a:ext>
            </a:extLst>
          </p:cNvPr>
          <p:cNvSpPr txBox="1"/>
          <p:nvPr/>
        </p:nvSpPr>
        <p:spPr>
          <a:xfrm>
            <a:off x="341472" y="211428"/>
            <a:ext cx="8670471" cy="92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SHREE VENKATESHWARA HI-TECH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ENGINEERING COLLEGE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Gobi-638455</a:t>
            </a:r>
          </a:p>
        </p:txBody>
      </p:sp>
      <p:pic>
        <p:nvPicPr>
          <p:cNvPr id="2" name="Picture 1" descr="Index - SHREE VENKATESHWARA HI-TECH ENGINEERING COLLEGE">
            <a:extLst>
              <a:ext uri="{FF2B5EF4-FFF2-40B4-BE49-F238E27FC236}">
                <a16:creationId xmlns:a16="http://schemas.microsoft.com/office/drawing/2014/main" id="{452853F6-E0D0-4AB0-3985-56B491BB4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61881"/>
            <a:ext cx="1012529" cy="877524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FA1F9A-4BEE-B085-6699-7CD2408B6CD3}"/>
              </a:ext>
            </a:extLst>
          </p:cNvPr>
          <p:cNvSpPr txBox="1"/>
          <p:nvPr/>
        </p:nvSpPr>
        <p:spPr>
          <a:xfrm>
            <a:off x="817595" y="1282776"/>
            <a:ext cx="8480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PROJECT TITLE : RED LENS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(AI based Non-Invasive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Screening System)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C2C76-4D44-9F0B-5E34-06B6724087BC}"/>
              </a:ext>
            </a:extLst>
          </p:cNvPr>
          <p:cNvSpPr txBox="1"/>
          <p:nvPr/>
        </p:nvSpPr>
        <p:spPr>
          <a:xfrm>
            <a:off x="817595" y="2149701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THEME : AI for health care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6A109A-F6B6-C80A-1D53-C778AFAF248C}"/>
              </a:ext>
            </a:extLst>
          </p:cNvPr>
          <p:cNvSpPr txBox="1"/>
          <p:nvPr/>
        </p:nvSpPr>
        <p:spPr>
          <a:xfrm>
            <a:off x="811064" y="2725613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TEAM NAME:BIO PULSE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85A87-CE60-E548-0C22-12627E4849F0}"/>
              </a:ext>
            </a:extLst>
          </p:cNvPr>
          <p:cNvSpPr txBox="1"/>
          <p:nvPr/>
        </p:nvSpPr>
        <p:spPr>
          <a:xfrm>
            <a:off x="811064" y="3301525"/>
            <a:ext cx="8028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ANALYSED PROBLEM  : </a:t>
            </a:r>
            <a:r>
              <a:rPr lang="en-US" dirty="0"/>
              <a:t>Many People Cannot Easily Access Anemia Tests, To we need a Simple, Low-cost AI system to help Detect Anemia Early.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C5A266-6B22-4D2D-F1C8-D5668631C3F3}"/>
              </a:ext>
            </a:extLst>
          </p:cNvPr>
          <p:cNvSpPr txBox="1"/>
          <p:nvPr/>
        </p:nvSpPr>
        <p:spPr>
          <a:xfrm>
            <a:off x="800100" y="4165866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PS CATEGORY: Hardware &amp; Software</a:t>
            </a:r>
          </a:p>
        </p:txBody>
      </p:sp>
    </p:spTree>
    <p:extLst>
      <p:ext uri="{BB962C8B-B14F-4D97-AF65-F5344CB8AC3E}">
        <p14:creationId xmlns:p14="http://schemas.microsoft.com/office/powerpoint/2010/main" val="1291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63737"/>
            <a:ext cx="8077200" cy="493637"/>
          </a:xfrm>
          <a:prstGeom prst="rect">
            <a:avLst/>
          </a:prstGeom>
        </p:spPr>
        <p:txBody>
          <a:bodyPr vert="horz" wrap="square" lIns="0" tIns="62143" rIns="0" bIns="0" rtlCol="0">
            <a:spAutoFit/>
          </a:bodyPr>
          <a:lstStyle/>
          <a:p>
            <a:br>
              <a:rPr lang="en-US" sz="1400" dirty="0"/>
            </a:br>
            <a:endParaRPr lang="en-US" sz="14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7835755-E6CE-58D4-DF20-448B8E8D7695}"/>
              </a:ext>
            </a:extLst>
          </p:cNvPr>
          <p:cNvSpPr>
            <a:spLocks/>
          </p:cNvSpPr>
          <p:nvPr/>
        </p:nvSpPr>
        <p:spPr>
          <a:xfrm>
            <a:off x="3282974" y="818972"/>
            <a:ext cx="2286000" cy="90679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978408-D57E-5026-3A66-72788F319DD0}"/>
              </a:ext>
            </a:extLst>
          </p:cNvPr>
          <p:cNvSpPr>
            <a:spLocks/>
          </p:cNvSpPr>
          <p:nvPr/>
        </p:nvSpPr>
        <p:spPr>
          <a:xfrm>
            <a:off x="6039394" y="821126"/>
            <a:ext cx="2286000" cy="86462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5B9ACB-8FAD-5E54-9664-BC3BE262A381}"/>
              </a:ext>
            </a:extLst>
          </p:cNvPr>
          <p:cNvSpPr txBox="1"/>
          <p:nvPr/>
        </p:nvSpPr>
        <p:spPr>
          <a:xfrm>
            <a:off x="171994" y="424160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kern="0" spc="150" dirty="0">
                <a:solidFill>
                  <a:srgbClr val="0F5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GOALS ADDRESSED</a:t>
            </a:r>
            <a:endParaRPr lang="en-US" sz="1400" dirty="0"/>
          </a:p>
          <a:p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DD5B8ED-2A54-3734-EE49-5465BEE3EC10}"/>
              </a:ext>
            </a:extLst>
          </p:cNvPr>
          <p:cNvSpPr>
            <a:spLocks/>
          </p:cNvSpPr>
          <p:nvPr/>
        </p:nvSpPr>
        <p:spPr>
          <a:xfrm>
            <a:off x="468394" y="888398"/>
            <a:ext cx="2286000" cy="89921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A555CB-43F7-C732-7234-B2241F06CED8}"/>
              </a:ext>
            </a:extLst>
          </p:cNvPr>
          <p:cNvSpPr txBox="1"/>
          <p:nvPr/>
        </p:nvSpPr>
        <p:spPr>
          <a:xfrm>
            <a:off x="812304" y="1098010"/>
            <a:ext cx="200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Good Health and Well-being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5955B9-402C-B2BB-F0F4-7727606DE076}"/>
              </a:ext>
            </a:extLst>
          </p:cNvPr>
          <p:cNvSpPr txBox="1"/>
          <p:nvPr/>
        </p:nvSpPr>
        <p:spPr>
          <a:xfrm>
            <a:off x="6324600" y="1086177"/>
            <a:ext cx="198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Sustainable Cities and Communities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5D1FB2-9930-5726-F0BD-B365FA7DECFC}"/>
              </a:ext>
            </a:extLst>
          </p:cNvPr>
          <p:cNvSpPr txBox="1"/>
          <p:nvPr/>
        </p:nvSpPr>
        <p:spPr>
          <a:xfrm>
            <a:off x="3488870" y="1081982"/>
            <a:ext cx="1981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Industry, Innovation and Infrastructure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B21C5059-C752-16B4-F639-D1BF5A7FDF10}"/>
              </a:ext>
            </a:extLst>
          </p:cNvPr>
          <p:cNvSpPr txBox="1"/>
          <p:nvPr/>
        </p:nvSpPr>
        <p:spPr>
          <a:xfrm>
            <a:off x="73152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B88A7E-8F58-7C88-6DCE-CAE307024F35}"/>
              </a:ext>
            </a:extLst>
          </p:cNvPr>
          <p:cNvSpPr txBox="1"/>
          <p:nvPr/>
        </p:nvSpPr>
        <p:spPr>
          <a:xfrm>
            <a:off x="6037785" y="86769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F88803-9E1A-FC84-9111-ED4F8D2A5C69}"/>
              </a:ext>
            </a:extLst>
          </p:cNvPr>
          <p:cNvSpPr txBox="1"/>
          <p:nvPr/>
        </p:nvSpPr>
        <p:spPr>
          <a:xfrm>
            <a:off x="171994" y="5057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IN" sz="2400" dirty="0"/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063DEFD6-2E13-974E-D733-06AA5E420CBF}"/>
              </a:ext>
            </a:extLst>
          </p:cNvPr>
          <p:cNvSpPr/>
          <p:nvPr/>
        </p:nvSpPr>
        <p:spPr>
          <a:xfrm>
            <a:off x="368477" y="1910354"/>
            <a:ext cx="8114993" cy="2829904"/>
          </a:xfrm>
          <a:prstGeom prst="roundRect">
            <a:avLst>
              <a:gd name="adj" fmla="val 3175"/>
            </a:avLst>
          </a:prstGeom>
          <a:solidFill>
            <a:srgbClr val="F2F5F5"/>
          </a:solidFill>
          <a:ln/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1B7A72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12C7C9-4D08-B3AA-7553-FC1B7E09AB2E}"/>
              </a:ext>
            </a:extLst>
          </p:cNvPr>
          <p:cNvSpPr txBox="1"/>
          <p:nvPr/>
        </p:nvSpPr>
        <p:spPr>
          <a:xfrm>
            <a:off x="517297" y="872259"/>
            <a:ext cx="931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B33792-A9E6-B802-9C79-A3744029D6BB}"/>
              </a:ext>
            </a:extLst>
          </p:cNvPr>
          <p:cNvSpPr txBox="1"/>
          <p:nvPr/>
        </p:nvSpPr>
        <p:spPr>
          <a:xfrm>
            <a:off x="3312132" y="842625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9.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C9FC4-6937-DCA9-444D-2DE9AA9478D3}"/>
              </a:ext>
            </a:extLst>
          </p:cNvPr>
          <p:cNvSpPr txBox="1"/>
          <p:nvPr/>
        </p:nvSpPr>
        <p:spPr>
          <a:xfrm>
            <a:off x="517297" y="1967355"/>
            <a:ext cx="77885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Our project, Red Lens, is designed to help study anemia using AI, a camera, and hardware.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 camera captures images of the eye and nail.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OpenCV checks the color of the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AI studies the image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MAX30102 sensor collects light signals from the finger to measure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estimated HB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ESP32 collects the sensor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system shows the results on an OLED display and a web application calculate the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aemia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persentage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46">
            <a:extLst>
              <a:ext uri="{FF2B5EF4-FFF2-40B4-BE49-F238E27FC236}">
                <a16:creationId xmlns:a16="http://schemas.microsoft.com/office/drawing/2014/main" id="{671F0D67-4F1D-0BC7-6770-F558529C8F64}"/>
              </a:ext>
            </a:extLst>
          </p:cNvPr>
          <p:cNvSpPr/>
          <p:nvPr/>
        </p:nvSpPr>
        <p:spPr>
          <a:xfrm>
            <a:off x="411480" y="4061283"/>
            <a:ext cx="3840480" cy="27432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 txBox="1"/>
          <p:nvPr/>
        </p:nvSpPr>
        <p:spPr>
          <a:xfrm>
            <a:off x="370332" y="179655"/>
            <a:ext cx="7543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258941" y="-13716"/>
            <a:ext cx="80924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C2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53262"/>
            <a:ext cx="3840480" cy="274320"/>
          </a:xfrm>
          <a:prstGeom prst="rect">
            <a:avLst/>
          </a:prstGeom>
          <a:solidFill>
            <a:srgbClr val="1B7A72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37310"/>
            <a:ext cx="3840480" cy="425196"/>
          </a:xfrm>
          <a:prstGeom prst="roundRect">
            <a:avLst>
              <a:gd name="adj" fmla="val 12903"/>
            </a:avLst>
          </a:prstGeom>
          <a:solidFill>
            <a:srgbClr val="F2F5F5"/>
          </a:solidFill>
          <a:ln w="12700">
            <a:solidFill>
              <a:srgbClr val="D8E0E0"/>
            </a:solidFill>
            <a:prstDash val="solid"/>
          </a:ln>
        </p:spPr>
        <p:txBody>
          <a:bodyPr/>
          <a:lstStyle/>
          <a:p>
            <a:endParaRPr lang="en-IN" sz="800" dirty="0"/>
          </a:p>
        </p:txBody>
      </p:sp>
      <p:sp>
        <p:nvSpPr>
          <p:cNvPr id="7" name="Shape 5"/>
          <p:cNvSpPr/>
          <p:nvPr/>
        </p:nvSpPr>
        <p:spPr>
          <a:xfrm>
            <a:off x="534924" y="1419606"/>
            <a:ext cx="260604" cy="260604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34924" y="1419606"/>
            <a:ext cx="2606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879092"/>
            <a:ext cx="3840480" cy="425196"/>
          </a:xfrm>
          <a:prstGeom prst="roundRect">
            <a:avLst>
              <a:gd name="adj" fmla="val 12903"/>
            </a:avLst>
          </a:prstGeom>
          <a:solidFill>
            <a:srgbClr val="F2F5F5"/>
          </a:solidFill>
          <a:ln w="12700">
            <a:solidFill>
              <a:srgbClr val="D8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34924" y="1961388"/>
            <a:ext cx="260604" cy="260604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34924" y="1961388"/>
            <a:ext cx="2606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" y="1879092"/>
            <a:ext cx="32575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C2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the finger inside the sensor clip.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420874"/>
            <a:ext cx="3840480" cy="425196"/>
          </a:xfrm>
          <a:prstGeom prst="roundRect">
            <a:avLst>
              <a:gd name="adj" fmla="val 12903"/>
            </a:avLst>
          </a:prstGeom>
          <a:solidFill>
            <a:srgbClr val="F2F5F5"/>
          </a:solidFill>
          <a:ln w="12700">
            <a:solidFill>
              <a:srgbClr val="D8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34924" y="2503170"/>
            <a:ext cx="260604" cy="260604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34924" y="2503170"/>
            <a:ext cx="2606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" y="2420874"/>
            <a:ext cx="32575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MAX30102 sends red and infrared light into the finger</a:t>
            </a:r>
          </a:p>
        </p:txBody>
      </p:sp>
      <p:sp>
        <p:nvSpPr>
          <p:cNvPr id="18" name="Shape 16"/>
          <p:cNvSpPr/>
          <p:nvPr/>
        </p:nvSpPr>
        <p:spPr>
          <a:xfrm>
            <a:off x="411480" y="2962656"/>
            <a:ext cx="3840480" cy="425196"/>
          </a:xfrm>
          <a:prstGeom prst="roundRect">
            <a:avLst>
              <a:gd name="adj" fmla="val 12903"/>
            </a:avLst>
          </a:prstGeom>
          <a:solidFill>
            <a:srgbClr val="F2F5F5"/>
          </a:solidFill>
          <a:ln w="12700">
            <a:solidFill>
              <a:srgbClr val="D8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34924" y="3044952"/>
            <a:ext cx="260604" cy="260604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34924" y="3044952"/>
            <a:ext cx="2606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" y="2962656"/>
            <a:ext cx="32575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sensor collects the light signals.</a:t>
            </a:r>
          </a:p>
        </p:txBody>
      </p:sp>
      <p:sp>
        <p:nvSpPr>
          <p:cNvPr id="22" name="Shape 20"/>
          <p:cNvSpPr/>
          <p:nvPr/>
        </p:nvSpPr>
        <p:spPr>
          <a:xfrm>
            <a:off x="411480" y="3504438"/>
            <a:ext cx="3840480" cy="425196"/>
          </a:xfrm>
          <a:prstGeom prst="roundRect">
            <a:avLst>
              <a:gd name="adj" fmla="val 12903"/>
            </a:avLst>
          </a:prstGeom>
          <a:solidFill>
            <a:srgbClr val="F2F5F5"/>
          </a:solidFill>
          <a:ln w="12700">
            <a:solidFill>
              <a:srgbClr val="D8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34924" y="3586734"/>
            <a:ext cx="260604" cy="260604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34924" y="3586734"/>
            <a:ext cx="2606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94410" y="3468842"/>
            <a:ext cx="32575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ESP32 receives the sensor data.</a:t>
            </a:r>
          </a:p>
        </p:txBody>
      </p:sp>
      <p:sp>
        <p:nvSpPr>
          <p:cNvPr id="28" name="Shape 26"/>
          <p:cNvSpPr/>
          <p:nvPr/>
        </p:nvSpPr>
        <p:spPr>
          <a:xfrm>
            <a:off x="4732020" y="1337310"/>
            <a:ext cx="3840480" cy="425196"/>
          </a:xfrm>
          <a:prstGeom prst="roundRect">
            <a:avLst>
              <a:gd name="adj" fmla="val 12903"/>
            </a:avLst>
          </a:prstGeom>
          <a:solidFill>
            <a:srgbClr val="F2F5F5"/>
          </a:solidFill>
          <a:ln w="12700">
            <a:solidFill>
              <a:srgbClr val="D8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55464" y="1419606"/>
            <a:ext cx="260604" cy="260604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4855464" y="1419606"/>
            <a:ext cx="2606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1329309"/>
            <a:ext cx="32575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Take a picture of the eye or nail.</a:t>
            </a:r>
          </a:p>
        </p:txBody>
      </p:sp>
      <p:sp>
        <p:nvSpPr>
          <p:cNvPr id="32" name="Shape 30"/>
          <p:cNvSpPr/>
          <p:nvPr/>
        </p:nvSpPr>
        <p:spPr>
          <a:xfrm>
            <a:off x="4732020" y="1879092"/>
            <a:ext cx="3840480" cy="425196"/>
          </a:xfrm>
          <a:prstGeom prst="roundRect">
            <a:avLst>
              <a:gd name="adj" fmla="val 12903"/>
            </a:avLst>
          </a:prstGeom>
          <a:solidFill>
            <a:srgbClr val="F2F5F5"/>
          </a:solidFill>
          <a:ln w="12700">
            <a:solidFill>
              <a:srgbClr val="D8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855464" y="1961388"/>
            <a:ext cx="260604" cy="260604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4855464" y="1961388"/>
            <a:ext cx="2606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1879092"/>
            <a:ext cx="32575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OpenCV checks the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colour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of the eye or nail.</a:t>
            </a:r>
          </a:p>
        </p:txBody>
      </p:sp>
      <p:sp>
        <p:nvSpPr>
          <p:cNvPr id="36" name="Shape 34"/>
          <p:cNvSpPr/>
          <p:nvPr/>
        </p:nvSpPr>
        <p:spPr>
          <a:xfrm>
            <a:off x="4732020" y="2420874"/>
            <a:ext cx="3840480" cy="425196"/>
          </a:xfrm>
          <a:prstGeom prst="roundRect">
            <a:avLst>
              <a:gd name="adj" fmla="val 12903"/>
            </a:avLst>
          </a:prstGeom>
          <a:solidFill>
            <a:srgbClr val="F2F5F5"/>
          </a:solidFill>
          <a:ln w="12700">
            <a:solidFill>
              <a:srgbClr val="D8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855464" y="2503170"/>
            <a:ext cx="260604" cy="260604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4855464" y="2503170"/>
            <a:ext cx="2606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212080" y="2420874"/>
            <a:ext cx="32575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AI analyzes the collected data.</a:t>
            </a:r>
          </a:p>
        </p:txBody>
      </p:sp>
      <p:sp>
        <p:nvSpPr>
          <p:cNvPr id="40" name="Shape 38"/>
          <p:cNvSpPr/>
          <p:nvPr/>
        </p:nvSpPr>
        <p:spPr>
          <a:xfrm>
            <a:off x="4732020" y="2962656"/>
            <a:ext cx="3840480" cy="425196"/>
          </a:xfrm>
          <a:prstGeom prst="roundRect">
            <a:avLst>
              <a:gd name="adj" fmla="val 12903"/>
            </a:avLst>
          </a:prstGeom>
          <a:solidFill>
            <a:srgbClr val="F2F5F5"/>
          </a:solidFill>
          <a:ln w="12700">
            <a:solidFill>
              <a:srgbClr val="D8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855464" y="3044952"/>
            <a:ext cx="260604" cy="260604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4855464" y="3044952"/>
            <a:ext cx="2606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5212080" y="2962656"/>
            <a:ext cx="32575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OLED and web application show the results.</a:t>
            </a:r>
          </a:p>
        </p:txBody>
      </p:sp>
      <p:sp>
        <p:nvSpPr>
          <p:cNvPr id="44" name="Shape 42"/>
          <p:cNvSpPr/>
          <p:nvPr/>
        </p:nvSpPr>
        <p:spPr>
          <a:xfrm>
            <a:off x="4732020" y="3504438"/>
            <a:ext cx="3840480" cy="425196"/>
          </a:xfrm>
          <a:prstGeom prst="roundRect">
            <a:avLst>
              <a:gd name="adj" fmla="val 12903"/>
            </a:avLst>
          </a:prstGeom>
          <a:solidFill>
            <a:srgbClr val="F2F5F5"/>
          </a:solidFill>
          <a:ln w="12700">
            <a:solidFill>
              <a:srgbClr val="D8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855464" y="3586734"/>
            <a:ext cx="260604" cy="260604"/>
          </a:xfrm>
          <a:prstGeom prst="ellipse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4855464" y="3586734"/>
            <a:ext cx="2606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5212080" y="3504438"/>
            <a:ext cx="32575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Save the results for future reference.</a:t>
            </a:r>
          </a:p>
        </p:txBody>
      </p:sp>
      <p:sp>
        <p:nvSpPr>
          <p:cNvPr id="48" name="Shape 46"/>
          <p:cNvSpPr/>
          <p:nvPr/>
        </p:nvSpPr>
        <p:spPr>
          <a:xfrm>
            <a:off x="4732020" y="4011930"/>
            <a:ext cx="3840480" cy="27432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 txBox="1"/>
          <p:nvPr/>
        </p:nvSpPr>
        <p:spPr>
          <a:xfrm>
            <a:off x="4690872" y="3987274"/>
            <a:ext cx="3840480" cy="27432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342900" y="4903470"/>
            <a:ext cx="6172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8641080" y="4903470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750" dirty="0">
                <a:solidFill>
                  <a:srgbClr val="4A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981A5CDD-4618-48D1-4ECD-95E091A0CAF7}"/>
              </a:ext>
            </a:extLst>
          </p:cNvPr>
          <p:cNvSpPr txBox="1"/>
          <p:nvPr/>
        </p:nvSpPr>
        <p:spPr>
          <a:xfrm>
            <a:off x="405245" y="4076407"/>
            <a:ext cx="3840480" cy="27432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900" dirty="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6919F42B-1065-0CD9-8A97-2AA2C609DB3A}"/>
              </a:ext>
            </a:extLst>
          </p:cNvPr>
          <p:cNvSpPr txBox="1"/>
          <p:nvPr/>
        </p:nvSpPr>
        <p:spPr>
          <a:xfrm>
            <a:off x="4732020" y="948935"/>
            <a:ext cx="3840480" cy="274320"/>
          </a:xfrm>
          <a:prstGeom prst="rect">
            <a:avLst/>
          </a:prstGeom>
          <a:solidFill>
            <a:srgbClr val="1B7A72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9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B3A6C9-1189-FE21-5B98-B1BE0EF4FCDF}"/>
              </a:ext>
            </a:extLst>
          </p:cNvPr>
          <p:cNvSpPr txBox="1"/>
          <p:nvPr/>
        </p:nvSpPr>
        <p:spPr>
          <a:xfrm>
            <a:off x="891540" y="1370597"/>
            <a:ext cx="322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Place the finger inside the sensor clip.</a:t>
            </a:r>
            <a:endParaRPr lang="en-IN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93E9BC-6EE7-1E91-AD1E-4F97D0199F9A}"/>
              </a:ext>
            </a:extLst>
          </p:cNvPr>
          <p:cNvSpPr txBox="1"/>
          <p:nvPr/>
        </p:nvSpPr>
        <p:spPr>
          <a:xfrm>
            <a:off x="762000" y="433054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Work flow in hard ware and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B07A4C5E-8095-0417-F5A2-3AFDAE4EA1C2}"/>
              </a:ext>
            </a:extLst>
          </p:cNvPr>
          <p:cNvSpPr txBox="1"/>
          <p:nvPr/>
        </p:nvSpPr>
        <p:spPr>
          <a:xfrm>
            <a:off x="481149" y="458457"/>
            <a:ext cx="701040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IN" sz="800" dirty="0"/>
          </a:p>
          <a:p>
            <a:pPr algn="just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Our project uses hardware and software together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48885D-B420-FCB3-1E72-490A768DFEEE}"/>
              </a:ext>
            </a:extLst>
          </p:cNvPr>
          <p:cNvSpPr txBox="1"/>
          <p:nvPr/>
        </p:nvSpPr>
        <p:spPr>
          <a:xfrm>
            <a:off x="381000" y="70533"/>
            <a:ext cx="388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Technical Approach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75C629E-2C75-A175-C9EA-5AEE694B1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255552"/>
              </p:ext>
            </p:extLst>
          </p:nvPr>
        </p:nvGraphicFramePr>
        <p:xfrm>
          <a:off x="381000" y="1137978"/>
          <a:ext cx="4419600" cy="3934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717352537"/>
                    </a:ext>
                  </a:extLst>
                </a:gridCol>
              </a:tblGrid>
              <a:tr h="62560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Technical Approach – Software</a:t>
                      </a:r>
                    </a:p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1B7A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749968"/>
                  </a:ext>
                </a:extLst>
              </a:tr>
              <a:tr h="3309384"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 Processing: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OpenCV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Analyzes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eye and nail-bed images.</a:t>
                      </a:r>
                    </a:p>
                    <a:p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Model: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Machine Learning identifies patterns related to low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Hemo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globin (Hb).</a:t>
                      </a:r>
                    </a:p>
                    <a:p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Sensor Connection: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ESP32 collects MAX30102 sensor data and sends it to the software.</a:t>
                      </a:r>
                    </a:p>
                    <a:p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Agent with API: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 AI agent uses an API to process available data, explain results, and generate screening reports.</a:t>
                      </a:r>
                    </a:p>
                    <a:p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 Display: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 website displays image analysis, sensor readings, and screening results.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43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3B0D855-D368-F5EC-224F-EAF5193F2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050318"/>
              </p:ext>
            </p:extLst>
          </p:nvPr>
        </p:nvGraphicFramePr>
        <p:xfrm>
          <a:off x="5029200" y="1137978"/>
          <a:ext cx="3962400" cy="400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492924419"/>
                    </a:ext>
                  </a:extLst>
                </a:gridCol>
              </a:tblGrid>
              <a:tr h="760924">
                <a:tc>
                  <a:txBody>
                    <a:bodyPr/>
                    <a:lstStyle/>
                    <a:p>
                      <a:pPr marL="285750" marR="0" lvl="0" indent="-28575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Technical Approach – Hardware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400" dirty="0"/>
                    </a:p>
                  </a:txBody>
                  <a:tcPr>
                    <a:solidFill>
                      <a:srgbClr val="1B7A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846762"/>
                  </a:ext>
                </a:extLst>
              </a:tr>
              <a:tr h="324459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ESP32: Controls the sensors and collects data.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MAX30102  &amp; optical PPG Sensor: Collects red and infrared light signals from the finger.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Camera: Captures eye and nail-bed images for analysis.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OLED Display: Shows sensor readings and system status.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USB Serial Connection: Transfers sensor data from the ESP32 to the computer for AI analysis.</a:t>
                      </a:r>
                      <a:endParaRPr lang="en-IN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2052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983D574-6F41-B491-A07C-48FA8E6F38B1}"/>
              </a:ext>
            </a:extLst>
          </p:cNvPr>
          <p:cNvSpPr txBox="1"/>
          <p:nvPr/>
        </p:nvSpPr>
        <p:spPr>
          <a:xfrm>
            <a:off x="1447800" y="1047750"/>
            <a:ext cx="54102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Technical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Uses AI and OpenCV to check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ESP32 collects sensor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web app displays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2. Economic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Uses low-cost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Uses free software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Reduces development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Operational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Easy to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Provides quick screening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Can be used in Anganwadi and rural health      centres.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C819B3-0E11-EB49-4044-69CDDE2EEA2D}"/>
              </a:ext>
            </a:extLst>
          </p:cNvPr>
          <p:cNvSpPr txBox="1"/>
          <p:nvPr/>
        </p:nvSpPr>
        <p:spPr>
          <a:xfrm>
            <a:off x="685800" y="210919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Feasibility and Viability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9456"/>
            <a:ext cx="7543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73776" y="69179"/>
            <a:ext cx="80924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C2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00050" y="531658"/>
            <a:ext cx="4126229" cy="3259292"/>
          </a:xfrm>
          <a:prstGeom prst="roundRect">
            <a:avLst>
              <a:gd name="adj" fmla="val 2985"/>
            </a:avLst>
          </a:prstGeom>
          <a:solidFill>
            <a:srgbClr val="F2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33400" y="644843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75" dirty="0">
                <a:solidFill>
                  <a:srgbClr val="0F5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3207" y="1010521"/>
            <a:ext cx="356616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3350" indent="-133350">
              <a:lnSpc>
                <a:spcPct val="120000"/>
              </a:lnSpc>
              <a:spcAft>
                <a:spcPts val="750"/>
              </a:spcAft>
              <a:buSzPct val="100000"/>
              <a:buChar char="●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Early Screening: Helps identify people who may have anemia early.</a:t>
            </a:r>
          </a:p>
          <a:p>
            <a:pPr marL="133350" indent="-133350">
              <a:lnSpc>
                <a:spcPct val="120000"/>
              </a:lnSpc>
              <a:spcAft>
                <a:spcPts val="750"/>
              </a:spcAft>
              <a:buSzPct val="100000"/>
              <a:buChar char="●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Rural Healthcare: Supports screening in villages and Anganwadi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centres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33350" indent="-133350">
              <a:lnSpc>
                <a:spcPct val="120000"/>
              </a:lnSpc>
              <a:spcAft>
                <a:spcPts val="750"/>
              </a:spcAft>
              <a:buSzPct val="100000"/>
              <a:buChar char="●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Health Awareness: Creates awareness about anemia and its risks.</a:t>
            </a:r>
          </a:p>
          <a:p>
            <a:pPr marL="133350" indent="-133350">
              <a:lnSpc>
                <a:spcPct val="120000"/>
              </a:lnSpc>
              <a:spcAft>
                <a:spcPts val="750"/>
              </a:spcAft>
              <a:buSzPct val="100000"/>
              <a:buChar char="●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Better Healthcare Access: Helps people in areas with limited medical facilities.</a:t>
            </a:r>
          </a:p>
          <a:p>
            <a:pPr marL="133350" indent="-133350">
              <a:lnSpc>
                <a:spcPct val="120000"/>
              </a:lnSpc>
              <a:spcAft>
                <a:spcPts val="750"/>
              </a:spcAft>
              <a:buSzPct val="100000"/>
              <a:buChar char="●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Digital Healthcare: Supports modern healthcare using AI and sensors.</a:t>
            </a:r>
          </a:p>
        </p:txBody>
      </p:sp>
      <p:sp>
        <p:nvSpPr>
          <p:cNvPr id="7" name="Shape 5"/>
          <p:cNvSpPr/>
          <p:nvPr/>
        </p:nvSpPr>
        <p:spPr>
          <a:xfrm>
            <a:off x="4572544" y="539932"/>
            <a:ext cx="4011930" cy="3259292"/>
          </a:xfrm>
          <a:prstGeom prst="roundRect">
            <a:avLst>
              <a:gd name="adj" fmla="val 2985"/>
            </a:avLst>
          </a:prstGeom>
          <a:solidFill>
            <a:srgbClr val="F2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731747" y="6995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75" dirty="0">
                <a:solidFill>
                  <a:srgbClr val="0F5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49436" y="1019992"/>
            <a:ext cx="3779521" cy="25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3350" indent="-133350">
              <a:lnSpc>
                <a:spcPct val="120000"/>
              </a:lnSpc>
              <a:spcAft>
                <a:spcPts val="750"/>
              </a:spcAft>
              <a:buSzPct val="100000"/>
              <a:buChar char="●"/>
            </a:pPr>
            <a:r>
              <a:rPr lang="en-US" sz="1200" dirty="0"/>
              <a:t> No Blood Draw for Image Analysis: Uses eye and nail-bed images for screening.</a:t>
            </a:r>
          </a:p>
          <a:p>
            <a:pPr marL="133350" indent="-133350">
              <a:lnSpc>
                <a:spcPct val="120000"/>
              </a:lnSpc>
              <a:spcAft>
                <a:spcPts val="750"/>
              </a:spcAft>
              <a:buSzPct val="100000"/>
              <a:buChar char="●"/>
            </a:pPr>
            <a:r>
              <a:rPr lang="en-US" sz="1200" dirty="0"/>
              <a:t>Quick Results: Helps provide screening results quickly</a:t>
            </a:r>
          </a:p>
          <a:p>
            <a:pPr marL="133350" indent="-133350">
              <a:lnSpc>
                <a:spcPct val="120000"/>
              </a:lnSpc>
              <a:spcAft>
                <a:spcPts val="750"/>
              </a:spcAft>
              <a:buSzPct val="100000"/>
              <a:buChar char="●"/>
            </a:pPr>
            <a:r>
              <a:rPr lang="en-US" sz="1200" dirty="0"/>
              <a:t> Low Cost: Uses affordable components like ESP32 and MAX30102.</a:t>
            </a:r>
          </a:p>
          <a:p>
            <a:pPr marL="133350" indent="-133350">
              <a:lnSpc>
                <a:spcPct val="120000"/>
              </a:lnSpc>
              <a:spcAft>
                <a:spcPts val="750"/>
              </a:spcAft>
              <a:buSzPct val="100000"/>
              <a:buChar char="●"/>
            </a:pPr>
            <a:r>
              <a:rPr lang="en-US" sz="1200" dirty="0"/>
              <a:t> Easy to Use: Simple for healthcare workers to operate.</a:t>
            </a:r>
          </a:p>
          <a:p>
            <a:pPr marL="133350" indent="-133350">
              <a:lnSpc>
                <a:spcPct val="120000"/>
              </a:lnSpc>
              <a:spcAft>
                <a:spcPts val="750"/>
              </a:spcAft>
              <a:buSzPct val="100000"/>
              <a:buChar char="●"/>
            </a:pPr>
            <a:r>
              <a:rPr lang="en-US" sz="1200" dirty="0"/>
              <a:t> Portable Device: Can be designed as a small, portable screening system.</a:t>
            </a:r>
          </a:p>
        </p:txBody>
      </p:sp>
      <p:sp>
        <p:nvSpPr>
          <p:cNvPr id="10" name="Shape 8"/>
          <p:cNvSpPr/>
          <p:nvPr/>
        </p:nvSpPr>
        <p:spPr>
          <a:xfrm>
            <a:off x="377189" y="4046764"/>
            <a:ext cx="8298180" cy="741970"/>
          </a:xfrm>
          <a:prstGeom prst="roundRect">
            <a:avLst>
              <a:gd name="adj" fmla="val 7407"/>
            </a:avLst>
          </a:prstGeom>
          <a:solidFill>
            <a:srgbClr val="1B7A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82930" y="4150614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113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82930" y="4253484"/>
            <a:ext cx="78181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chemeClr val="bg1"/>
                </a:solidFill>
              </a:rPr>
              <a:t>To develop a portable system for anemia screening research without taking a blood sample during the scan.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342900" y="4903470"/>
            <a:ext cx="6172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4903470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750" dirty="0">
                <a:solidFill>
                  <a:srgbClr val="4A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783080"/>
            <a:ext cx="82296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250317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BioPulse  —  Smart Ambulance Rapid Response System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2880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75" dirty="0"/>
          </a:p>
        </p:txBody>
      </p:sp>
      <p:sp>
        <p:nvSpPr>
          <p:cNvPr id="5" name="Text 3"/>
          <p:cNvSpPr txBox="1"/>
          <p:nvPr/>
        </p:nvSpPr>
        <p:spPr>
          <a:xfrm>
            <a:off x="8641080" y="4903470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750" dirty="0">
                <a:solidFill>
                  <a:srgbClr val="CF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AA4281-CE28-FC57-7FB5-100A27CDA0E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7A72"/>
          </a:solidFill>
          <a:ln>
            <a:solidFill>
              <a:srgbClr val="0A0A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91BFF0-C853-8C54-34BA-695A9DE8ACB6}"/>
              </a:ext>
            </a:extLst>
          </p:cNvPr>
          <p:cNvSpPr txBox="1"/>
          <p:nvPr/>
        </p:nvSpPr>
        <p:spPr>
          <a:xfrm>
            <a:off x="411480" y="858998"/>
            <a:ext cx="45857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8A7A3-6D0D-6296-CE12-BE8DFD21880E}"/>
              </a:ext>
            </a:extLst>
          </p:cNvPr>
          <p:cNvSpPr txBox="1"/>
          <p:nvPr/>
        </p:nvSpPr>
        <p:spPr>
          <a:xfrm>
            <a:off x="428413" y="1783080"/>
            <a:ext cx="66294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BioPulse</a:t>
            </a: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 LENS</a:t>
            </a:r>
          </a:p>
          <a:p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(AI based Non-Invasive </a:t>
            </a:r>
            <a:r>
              <a:rPr lang="en-I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Screening System) </a:t>
            </a:r>
          </a:p>
          <a:p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1971</TotalTime>
  <Words>698</Words>
  <Application>Microsoft Office PowerPoint</Application>
  <PresentationFormat>On-screen Show (16:9)</PresentationFormat>
  <Paragraphs>128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Aptos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Sharan Moorthi</cp:lastModifiedBy>
  <cp:revision>16</cp:revision>
  <dcterms:created xsi:type="dcterms:W3CDTF">2026-08-08T14:32:12Z</dcterms:created>
  <dcterms:modified xsi:type="dcterms:W3CDTF">2026-10-22T09:18:15Z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2026-08-08T00:00:00Z</vt:filetime>
  </property>
  <property fmtid="{D5CDD505-2E9C-101B-9397-08002B2CF9AE}" pid="3" name="Creator">
    <vt:lpwstr>Acrobat PDFMaker 24 for PowerPoint</vt:lpwstr>
  </property>
  <property fmtid="{D5CDD505-2E9C-101B-9397-08002B2CF9AE}" pid="4" name="LastSaved">
    <vt:filetime>2026-08-08T00:00:00Z</vt:filetime>
  </property>
  <property fmtid="{D5CDD505-2E9C-101B-9397-08002B2CF9AE}" pid="5" name="Producer">
    <vt:lpwstr>Adobe PDF Library 24.1.38</vt:lpwstr>
  </property>
</Properties>
</file>